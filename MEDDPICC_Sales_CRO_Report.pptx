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MEDDPICC Sales Mastery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1F5F9"/>
                </a:solidFill>
                <a:latin typeface="Arial"/>
              </a:defRPr>
            </a:pPr>
            <a:r>
              <a:t>A Strategic Framework for Sales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We'll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Arial"/>
              </a:defRPr>
            </a:pPr>
            <a:r>
              <a:t>Understanding MEDDPICC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The qualifying framework that drives forecast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Arial"/>
              </a:defRPr>
            </a:pPr>
            <a:r>
              <a:t>Deep Dive: Each Letter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Metrics, Economic Buyer, Decision Criteria &amp;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Arial"/>
              </a:defRPr>
            </a:pPr>
            <a:r>
              <a:t>The Three Whys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Why do anything? Why us? Why now?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Arial"/>
              </a:defRPr>
            </a:pPr>
            <a:r>
              <a:t>Champions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Identifying, developing, and leveraging your champion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94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9770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Arial"/>
              </a:defRPr>
            </a:pPr>
            <a:r>
              <a:t>Sales Stages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Mapping MEDDPICC to your sales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D9770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Understanding MEDDPICC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75488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What is MEDDPICC?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A qualification framework to assess deal health and knowledge gaps</a:t>
            </a:r>
            <a:br/>
            <a:r>
              <a:t>• Helps identify blind spots in your opportunities</a:t>
            </a:r>
            <a:br/>
            <a:r>
              <a:t>• Creates a common language across your sales organization</a:t>
            </a:r>
            <a:br/>
            <a:r>
              <a:t>• Maintains forecast accuracy through systematic qualification</a:t>
            </a:r>
            <a:br/>
            <a:r>
              <a:t>• Not a checklist — it's a journey throughout the entire sales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MEDDPICC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What is the economic impact of our deal?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Economic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Who has P&amp;L responsibility and budget authority?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What is their technical, vendor, and financial criteria?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6060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Decision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017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Which steps are required in their buying process?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79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19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Identify Pain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976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What's motivating them to do anything?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40479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886199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Implicate Pain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976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What's the impact if they don't act?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663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Champion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77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Who has the power and conviction to sell on your behalf?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120640"/>
            <a:ext cx="640080" cy="6400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1663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577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Arial"/>
              </a:defRPr>
            </a:pPr>
            <a:r>
              <a:t>Who are we competing against?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Why MEDDPICC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Assess deal health objectively — no more gut feelings</a:t>
            </a:r>
            <a:br/>
            <a:r>
              <a:t>• Identify blind spots before they derail your deal</a:t>
            </a:r>
            <a:br/>
            <a:r>
              <a:t>• Speak the same language with your team and leadership</a:t>
            </a:r>
            <a:br/>
            <a:r>
              <a:t>• Maintain forecast accuracy with data-driven qualification</a:t>
            </a:r>
            <a:br/>
            <a:r>
              <a:t>• Prepare strategically for every prospect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>
                <a:solidFill>
                  <a:srgbClr val="D97706"/>
                </a:solidFill>
                <a:latin typeface="Arial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MEDDPICC is a journey, not an event or checklist. Use it throughout the entire sales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D9770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The Three Whys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75488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Every Deal Must Answer Three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WHY DO ANYTHING? — What's driving them to change?</a:t>
            </a:r>
            <a:br/>
            <a:r>
              <a:t>• WHY US? — What makes us the right choice?</a:t>
            </a:r>
            <a:br/>
            <a:r>
              <a:t>• WHY NOW? — What creates urgency to act?</a:t>
            </a:r>
            <a:br/>
            <a:r>
              <a:t>• </a:t>
            </a:r>
            <a:br/>
            <a:r>
              <a:t>• If you can't answer all three, your deal is at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D9770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MEDDPICC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75488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82296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Identify Pain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20574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6517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324612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384048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44348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0" y="50292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56235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• Current Situation: What is their current approach (or lack of one)?</a:t>
            </a:r>
            <a:br/>
            <a:br/>
            <a:r>
              <a:t>• Uncovered Pain: What business and personal frustrations exist?</a:t>
            </a:r>
            <a:br/>
            <a:br/>
            <a:r>
              <a:t>• Negative Consequences: What happens if they don't address this?</a:t>
            </a:r>
            <a:br/>
            <a:br/>
            <a:r>
              <a:t>• </a:t>
            </a:r>
            <a:br/>
            <a:br/>
            <a:r>
              <a:t>• No delta, no deal. Pain drives 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82296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20574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6517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324612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384048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44348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0" y="50292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56235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• How will the prospect measure business impact from your solution?</a:t>
            </a:r>
            <a:br/>
            <a:br/>
            <a:r>
              <a:t>• What economic outcomes matter most to them?</a:t>
            </a:r>
            <a:br/>
            <a:br/>
            <a:r>
              <a:t>• Quantify the value — make it tangible and measurable</a:t>
            </a:r>
            <a:br/>
            <a:br/>
            <a:r>
              <a:t>• </a:t>
            </a:r>
            <a:br/>
            <a:br/>
            <a:r>
              <a:t>• Metrics create the business case for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82296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Champion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20574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6517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324612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384048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44348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0" y="502920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562356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• Power &amp; Influence: Someone who grants access to the Economic Buyer</a:t>
            </a:r>
            <a:br/>
            <a:br/>
            <a:r>
              <a:t>• Personal Win: They have a vested interest in your success</a:t>
            </a:r>
            <a:br/>
            <a:br/>
            <a:r>
              <a:t>• Sells for You: They articulate Why Do Anything, Why Now, Why Us</a:t>
            </a:r>
            <a:br/>
            <a:br/>
            <a:r>
              <a:t>• </a:t>
            </a:r>
            <a:br/>
            <a:br/>
            <a:r>
              <a:t>• A champion is not the same as a coach. Know the difference.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Champion vs. Coach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Arial"/>
              </a:defRPr>
            </a:pPr>
            <a:r>
              <a:t>CHAMPION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rial"/>
              </a:defRPr>
            </a:pPr>
            <a:r>
              <a:t>• Has power and influence</a:t>
            </a:r>
            <a:br/>
            <a:r>
              <a:t>• Has a personal stake in your win</a:t>
            </a:r>
            <a:br/>
            <a:r>
              <a:t>• Actively sells when you're not there</a:t>
            </a:r>
            <a:br/>
            <a:r>
              <a:t>• Can articulate the 3 Whys</a:t>
            </a:r>
            <a:br/>
            <a:r>
              <a:t>• Returns your calls proactively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Arial"/>
              </a:defRPr>
            </a:pPr>
            <a:r>
              <a:t>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rial"/>
              </a:defRPr>
            </a:pPr>
            <a:r>
              <a:t>• Provides information</a:t>
            </a:r>
            <a:br/>
            <a:r>
              <a:t>• May not have decision power</a:t>
            </a:r>
            <a:br/>
            <a:r>
              <a:t>• Helps you navigate, not sell</a:t>
            </a:r>
            <a:br/>
            <a:r>
              <a:t>• May be friendly but passive</a:t>
            </a:r>
            <a:br/>
            <a:r>
              <a:t>• Limited influence with 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82296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Decision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20574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65176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324612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384048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44348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0" y="50292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56235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• Technical Criteria: What capabilities do they require?</a:t>
            </a:r>
            <a:br/>
            <a:br/>
            <a:r>
              <a:t>• Vendor Criteria: What do they need from a partner?</a:t>
            </a:r>
            <a:br/>
            <a:br/>
            <a:r>
              <a:t>• Financial Criteria: What's the budget and ROI expectation?</a:t>
            </a:r>
            <a:br/>
            <a:br/>
            <a:r>
              <a:t>• </a:t>
            </a:r>
            <a:br/>
            <a:br/>
            <a:r>
              <a:t>• Bake your differentiators into their criteria.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Competitive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DIRECT — When you have overwhelming advantage (3:1). Default strategy.</a:t>
            </a:r>
            <a:br/>
            <a:r>
              <a:t>• DIVIDE — Fragment the competition. 'Beach Head' or 'Trojan Horse' approach.</a:t>
            </a:r>
            <a:br/>
            <a:r>
              <a:t>• INDIRECT — When competition is too strong. Change the ground by leveraging new buying influences.</a:t>
            </a:r>
            <a:br/>
            <a:r>
              <a:t>• DELAY — When losing. Slow the deal to change MEDDPICC dynamics.</a:t>
            </a:r>
            <a:br/>
            <a:r>
              <a:t>• </a:t>
            </a:r>
            <a:br/>
            <a:r>
              <a:t>• Know your enemy's position. Attack where unprepared.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82296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Economic Buyer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205740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6517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324612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384048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44348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0" y="50292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56235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• Has discretionary use of funds and veto power</a:t>
            </a:r>
            <a:br/>
            <a:br/>
            <a:r>
              <a:t>• Owns the bottom-line impact of the decision</a:t>
            </a:r>
            <a:br/>
            <a:br/>
            <a:r>
              <a:t>• Can say YES when everyone else says NO</a:t>
            </a:r>
            <a:br/>
            <a:br/>
            <a:r>
              <a:t>• </a:t>
            </a:r>
            <a:br/>
            <a:br/>
            <a:r>
              <a:t>• Validate: Who is the final authorizer in the paper process?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82296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Decision Process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0" y="20574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0" y="265176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2697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0" y="3246120"/>
            <a:ext cx="54864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0" y="384048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0" y="443484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0" y="502920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5623560"/>
            <a:ext cx="5486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748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Arial"/>
              </a:defRPr>
            </a:pPr>
            <a:r>
              <a:t>• Selection Process: How will they decide what to do?</a:t>
            </a:r>
            <a:br/>
            <a:br/>
            <a:r>
              <a:t>• Contract Process: What steps to complete the vendor process?</a:t>
            </a:r>
            <a:br/>
            <a:br/>
            <a:r>
              <a:t>• </a:t>
            </a:r>
            <a:br/>
            <a:br/>
            <a:r>
              <a:t>• Map every step. Own the timeline. No surprises.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D9770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Mastering Champions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75488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Champion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POWER &amp; INFLUENCE — They command the room</a:t>
            </a:r>
            <a:br/>
            <a:r>
              <a:t>• PERSONAL WIN — They have something to gain</a:t>
            </a:r>
            <a:br/>
            <a:r>
              <a:t>• SELLS FOR YOU — They advocate when you're not there</a:t>
            </a:r>
            <a:br/>
            <a:r>
              <a:t>• </a:t>
            </a:r>
            <a:br/>
            <a:r>
              <a:t>• You need evidence of all three.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How to Spot a Champion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They answer the tough questions with authority</a:t>
            </a:r>
            <a:br/>
            <a:r>
              <a:t>• They're not afraid to say 'I don't know'</a:t>
            </a:r>
            <a:br/>
            <a:r>
              <a:t>• They've led transformational projects before</a:t>
            </a:r>
            <a:br/>
            <a:r>
              <a:t>• They're hard to reach (high demand)</a:t>
            </a:r>
            <a:br/>
            <a:r>
              <a:t>• New to the organization with something to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Developing Your Champion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Add value to them — be honest, have integrity</a:t>
            </a:r>
            <a:br/>
            <a:r>
              <a:t>• Don't be a 'salesperson' — be a trusted advisor</a:t>
            </a:r>
            <a:br/>
            <a:r>
              <a:t>• Predict the future — spot problems before they do</a:t>
            </a:r>
            <a:br/>
            <a:r>
              <a:t>• Provide information they can reuse as their own</a:t>
            </a:r>
            <a:br/>
            <a:r>
              <a:t>• Walk them through MEDDPICC, help them prepare their Champion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Testing Your Champion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Can they articulate the 3 Whys without your guidance?</a:t>
            </a:r>
            <a:br/>
            <a:r>
              <a:t>• Can they give you access to the EB and run meetings for you?</a:t>
            </a:r>
            <a:br/>
            <a:r>
              <a:t>• Do they provide competitive intelligence proactively?</a:t>
            </a:r>
            <a:br/>
            <a:r>
              <a:t>• Do they return your calls? Do they call YOU?</a:t>
            </a:r>
            <a:br/>
            <a:r>
              <a:t>• Play the negative: 'I'm not sure we can get this done...' — see how they respond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>
                <a:solidFill>
                  <a:srgbClr val="D97706"/>
                </a:solidFill>
                <a:latin typeface="Arial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No Champion, No Deal.</a:t>
            </a:r>
            <a:br/>
            <a:r>
              <a:t>Develop Multiple Champions.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D9770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Sales Stage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754880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Sales Methodology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Arial"/>
              </a:defRPr>
            </a:pPr>
            <a:r>
              <a:t>• What is the pain? (Technical, Business, Personal)</a:t>
            </a:r>
            <a:br/>
            <a:r>
              <a:t>• Who must be involved? Who has power?</a:t>
            </a:r>
            <a:br/>
            <a:r>
              <a:t>• Where is the risk?</a:t>
            </a:r>
            <a:br/>
            <a:r>
              <a:t>• </a:t>
            </a:r>
            <a:br/>
            <a:r>
              <a:t>• We are measured by executed contracts, not advancing opportunities.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09728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Identify an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• BDR schedules intro call</a:t>
            </a:r>
            <a:br/>
            <a:r>
              <a:t>• Create opportunity once scheduled</a:t>
            </a:r>
            <a:br/>
            <a:r>
              <a:t>• Identify: Pain, Economic Buyer, Timing</a:t>
            </a:r>
            <a:br/>
            <a:r>
              <a:t>• Build alignment on case for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CUSTOMER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✓ Shares pain and why they want to learn more</a:t>
            </a:r>
            <a:br/>
            <a:r>
              <a:t>✓ Agrees to discovery meeting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09728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Determine Problem &amp;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• Conduct discovery call</a:t>
            </a:r>
            <a:br/>
            <a:r>
              <a:t>• Identify metrics customer wants to improve</a:t>
            </a:r>
            <a:br/>
            <a:r>
              <a:t>• Map decision process and paper process</a:t>
            </a:r>
            <a:br/>
            <a:r>
              <a:t>• Identify potential champions</a:t>
            </a:r>
            <a:br/>
            <a:r>
              <a:t>• Confirm pricing, timeline, competitors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CUSTOMER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✓ Attends discovery meeting</a:t>
            </a:r>
            <a:br/>
            <a:r>
              <a:t>✓ Confirms evaluation &amp; buying decision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09728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Validate Benefits &amp;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• Present demo to key stakeholders</a:t>
            </a:r>
            <a:br/>
            <a:r>
              <a:t>• Introduce Mutual Action Plan (MAP)</a:t>
            </a:r>
            <a:br/>
            <a:r>
              <a:t>• Influence business &amp; technical criteria</a:t>
            </a:r>
            <a:br/>
            <a:r>
              <a:t>• Demonstrate value vs. competitors</a:t>
            </a:r>
            <a:br/>
            <a:r>
              <a:t>• Test and validate champion has influence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CUSTOMER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✓ Attends demo</a:t>
            </a:r>
            <a:br/>
            <a:r>
              <a:t>✓ Agrees to rollout discussion with 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09728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Confirm Value with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• Discuss rollout and implementation</a:t>
            </a:r>
            <a:br/>
            <a:r>
              <a:t>• Meet EB or person who influences EB</a:t>
            </a:r>
            <a:br/>
            <a:r>
              <a:t>• Present business case to stakeholders</a:t>
            </a:r>
            <a:br/>
            <a:r>
              <a:t>• Align on commercial structure</a:t>
            </a:r>
            <a:br/>
            <a:r>
              <a:t>• Deliver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CUSTOMER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✓ Attends rollout meeting</a:t>
            </a:r>
            <a:br/>
            <a:r>
              <a:t>✓ Confirms vision lock &amp; rollout strategy</a:t>
            </a:r>
            <a:br/>
            <a:r>
              <a:t>✓ Starts InfoSec &amp; Legal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09728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Negotiate &amp; Execute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• Deliver final order form to EB/Champion</a:t>
            </a:r>
            <a:br/>
            <a:r>
              <a:t>• Confirm vendor of choice</a:t>
            </a:r>
            <a:br/>
            <a:r>
              <a:t>• Verify remaining concerns are met</a:t>
            </a:r>
            <a:br/>
            <a:r>
              <a:t>• Approve InfoSec &amp; Legal</a:t>
            </a:r>
            <a:br/>
            <a:r>
              <a:t>• Execute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CUSTOMER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✓ InfoSec &amp; Legal approved</a:t>
            </a:r>
            <a:br/>
            <a:r>
              <a:t>✓ Contract is 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1097280" cy="8229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STAGE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Closed Won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• Introduce Customer Success</a:t>
            </a:r>
            <a:br/>
            <a:r>
              <a:t>• Joint AE &amp; CS handoff call</a:t>
            </a:r>
            <a:br/>
            <a:r>
              <a:t>• Ensure EB is satisfied with success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t>CUSTOMER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✓ EB &amp; stakeholders attend kickoff call</a:t>
            </a:r>
            <a:br/>
            <a:r>
              <a:t>✓ Partnership begins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A5F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Execute with MEDDPICC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1F5F9"/>
                </a:solidFill>
                <a:latin typeface="Arial"/>
              </a:defRPr>
            </a:pPr>
            <a:r>
              <a:t>Qualify Better. Forecast Accurately. Close More Deals.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Arial"/>
              </a:defRPr>
            </a:pPr>
            <a:r>
              <a:t>THE CRO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